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1 页 · 封面　约 15 秒】
各位老师好，我是＿＿＿＿，毕业设计题目是《基于 Spring Boot 的智能组卷与试卷分析系统设计与实现》，指导教师是＿＿＿＿老师。下面汇报我的开题情况。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2 页 · 汇报提纲　约 12 秒】
我的汇报分六个部分：选题背景与意义、研究现状、研究内容与目标、技术路线与系统设计、关键技术与创新点、进度与预期成果。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3 页 · 选题背景　约 32 秒】
教育信息化推动在线考试普及，组卷是组织考试的第一步。但目前组卷仍多依赖教师手工完成，存在四个问题：效率低、主观性强、题库资源闲置，以及试卷分析浅——只看到总分，看不到学生在知识点上的掌握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4 页 · 选题意义　约 22 秒】
本课题有理论和实践两方面意义。理论上，把组卷抽象为带约束的多目标优化问题，用遗传算法建模求解，并引入经典测量理论评估试卷质量。实践上，能减轻教师组卷负担、提升试卷科学性，把考试反馈推进到知识点诊断，同时覆盖完整的软件工程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5 页 · 研究现状：智能组卷算法　约 32 秒】
组卷是在总分、题型、知识点、难度、时间等约束下选题，属于 NP 难问题。现有方法有三类：一是随机抽取与回溯，实现简单但多约束下成功率低；二是遗传算法，全局搜索能力强、应用最广，但存在收敛慢、易早熟、参数依赖经验的问题；三是模拟退火、蚁群等其他智能算法与混合算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6 页 · 研究现状：试卷分析与现有系统不足　约 28 秒】
试卷分析方面，经典测量理论用难度、区分度、信度评价试卷，应用最广；项目反应理论更精细但对样本要求高；认知诊断则从分数统计走向知识诊断。综合来看，现有系统有三点不足：组卷智能化不足、组卷与分析相互割裂、分析缺少知识点诊断。这正是本课题的切入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7 页 · 研究内容　约 38 秒】
本课题有五项研究内容：一是题库与知识体系建模；二是智能组卷算法，用改进遗传算法求解，并与随机组卷、标准遗传算法对比；三是组卷约束与模板管理；四是试卷分析模块；五是系统的设计与实现。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8 页 · 研究目标　约 22 秒】
目标是建成一个可稳定运行的系统：改进算法的组卷成功率和试卷质量指标优于基线，试卷分析能输出难度、区分度、信度等指标以及知识点诊断结果，最终形成从组卷到分析的闭环。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9 页 · 技术路线　约 22 秒】
技术路线上，按需求分析、系统设计、算法设计、编码实现、测试优化、论文撰写的顺序推进，整体思路是先建模、再算法、后工程、终验证。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10 页 · 系统总体设计　约 32 秒】
系统采用前后端分离架构，分四层：前端层用 Vue 3，配合 Element Plus、Pinia、ECharts；接口层是 RESTful 接口，用 JSON 传输、JWT 鉴权；业务层由 Controller 和 Service 组成，集成智能组卷引擎和试卷分析引擎；数据层用 MyBatis-Plus 访问 MySQL，Redis 做缓存。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11 页 · 功能模块划分　约 22 秒】
系统划分为六个模块：系统管理、题库管理、知识点管理、智能组卷、考试管理、试卷分析。其中智能组卷和试卷分析是核心，其余是支撑。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12 页 · 关键技术难点　约 28 秒】
关键技术难点有四个：一是组卷的多约束多目标建模与适应度函数设计；二是遗传算法的编码与算子改进，要平衡收敛速度与种群多样性；三是题目难度和知识点的标注与标定；四是分析模型的建立与可视化。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13 页 · 核心亮点：智能组卷算法　约 42 秒】
重点说核心亮点。我用一个适应度函数衡量试卷优劣，它是难度贴近度、知识点覆盖、题型结构、答题时间四项的加权和，再减去违反硬约束的惩罚项。算法上做了四点改进：按题型分段编码，使题量与分值约束天然满足；自适应交叉与变异概率；精英保留防止最优解退化；锦标赛选择提高选择压力。最后在相同题库与约束下，与随机组卷、标准遗传算法对比验证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14 页 · 进度安排　约 22 秒】
进度分四个阶段：十月到十一月完成开题与设计；十二月到一月完成算法与后端；二月到三月做前端、分析模块与测试；四月到五月完成部署、论文与答辩。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15 页 · 预期成果与特色　约 18 秒】
预期成果包括可运行的系统、算法对比实验数据、需求与设计文档、毕业论文和答辩演示文稿。特色是用改进遗传算法实现多约束多目标的智能组卷，并把组卷与分析打通成闭环。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 16 页 · 结束　约 10 秒】
以上就是我的开题汇报，恳请各位老师批评指正，谢谢！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554480"/>
            <a:ext cx="4937760" cy="4937760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98480" y="4206240"/>
            <a:ext cx="3108960" cy="31089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本科毕业设计（论文）开题答辩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600200"/>
            <a:ext cx="8595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 Spring Boot 的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智能组卷与试卷分析系统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设计与实现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709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答辩人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4709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＿＿＿＿＿＿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20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　号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＿＿＿＿＿＿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5321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指导教师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＿＿＿＿＿＿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4709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　　业：＿＿＿＿＿＿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5532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汇报提纲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" y="1947672"/>
            <a:ext cx="621792" cy="62179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476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94767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选题背景与意义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5392" y="1947672"/>
            <a:ext cx="621792" cy="62179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5392" y="19476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194767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国内外研究现状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429000"/>
            <a:ext cx="621792" cy="62179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4290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42900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研究内容与目标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309360" y="3172968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65392" y="3429000"/>
            <a:ext cx="621792" cy="62179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65392" y="34290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342900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技术路线与系统设计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4654296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910328"/>
            <a:ext cx="621792" cy="62179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491032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49103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关键技术难点与创新点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309360" y="4654296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910328"/>
            <a:ext cx="621792" cy="62179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65392" y="491032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49103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进度安排与预期成果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一、选题背景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教育信息化推进，在线考试普及；考试是教学评价核心，组卷是第一步。但组卷仍多依赖教师手工完成。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52145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2542032"/>
            <a:ext cx="658368" cy="65836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5420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401568"/>
            <a:ext cx="191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效率低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913632"/>
            <a:ext cx="191795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一份结构合理的试卷耗时数小时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35858" y="2240280"/>
            <a:ext cx="252145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37610" y="2542032"/>
            <a:ext cx="658368" cy="65836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37610" y="25420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37610" y="3401568"/>
            <a:ext cx="191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主观性强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737610" y="3913632"/>
            <a:ext cx="191795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难度与知识点覆盖难以精确控制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1636" y="2240280"/>
            <a:ext cx="252145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3388" y="2542032"/>
            <a:ext cx="658368" cy="65836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3388" y="25420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533388" y="3401568"/>
            <a:ext cx="191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资源闲置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3388" y="3913632"/>
            <a:ext cx="191795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题库优质试题未被科学组合利用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27414" y="2240280"/>
            <a:ext cx="252145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9166" y="2542032"/>
            <a:ext cx="658368" cy="65836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9166" y="25420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29166" y="3401568"/>
            <a:ext cx="19179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29166" y="3913632"/>
            <a:ext cx="191795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只见总分，不见知识点掌握情况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一、选题意义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783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C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理论意义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97280" y="2450592"/>
            <a:ext cx="822960" cy="82296"/>
          </a:xfrm>
          <a:prstGeom prst="roundRect">
            <a:avLst>
              <a:gd name="adj" fmla="val 44444"/>
            </a:avLst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78892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把组卷抽象为带约束的多目标组合优化问题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47288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研究遗传算法在该问题上的建模与改进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105656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引入经典测量理论，量化评估试卷质量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76402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算法与教育测量相结合的一次实践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36792" y="137160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93992" y="1783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实践意义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793992" y="2450592"/>
            <a:ext cx="822960" cy="82296"/>
          </a:xfrm>
          <a:prstGeom prst="roundRect">
            <a:avLst>
              <a:gd name="adj" fmla="val 44444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93992" y="278892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降低教师组卷工作量，提升试卷科学性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793992" y="3447288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把考试反馈从分数推进到知识点诊断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793992" y="4105656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覆盖需求—设计—算法—开发—测试完整流程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793992" y="476402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  锻炼软件工程与算法应用能力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二、研究现状：智能组卷算法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组卷 = 在总分、题型、知识点、难度、时间等约束下选题，属于典型的 NP 难组合优化问题。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22904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011680"/>
            <a:ext cx="3422904" cy="777240"/>
          </a:xfrm>
          <a:prstGeom prst="roundRect">
            <a:avLst>
              <a:gd name="adj" fmla="val 9412"/>
            </a:avLst>
          </a:prstGeom>
          <a:solidFill>
            <a:srgbClr val="5B6B7B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规则 / 随机与回溯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99232"/>
            <a:ext cx="2874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实现简单，但多约束下成功率低、效率差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回溯法可得可行解，但搜索空间大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024" y="2011680"/>
            <a:ext cx="3422904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3024" y="2011680"/>
            <a:ext cx="3422904" cy="777240"/>
          </a:xfrm>
          <a:prstGeom prst="roundRect">
            <a:avLst>
              <a:gd name="adj" fmla="val 9412"/>
            </a:avLst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1624" y="201168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遗传算法（主流）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2999232"/>
            <a:ext cx="2874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全局搜索能力强，目前应用最广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存在收敛慢、易早熟、参数依赖经验的问题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5968" y="2011680"/>
            <a:ext cx="3422904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5968" y="2011680"/>
            <a:ext cx="3422904" cy="777240"/>
          </a:xfrm>
          <a:prstGeom prst="roundRect">
            <a:avLst>
              <a:gd name="adj" fmla="val 9412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4568" y="2011680"/>
            <a:ext cx="2965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其他智能算法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00288" y="2999232"/>
            <a:ext cx="2874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模拟退火、禁忌搜索、蚁群、粒子群等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混合算法弥补单一算法的不足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二、研究现状：试卷分析与现有系统不足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C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试卷分析理论演进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CTT 经典测量理论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249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难度、区分度、信度、效度；直观、应用最广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IRT 项目反应理论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82219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能力—题目参数模型；更精细，样本要求高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526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CDM 认知诊断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9194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基于作答数据做知识掌握诊断，研究热点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36792" y="13258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02552" y="1691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现有系统的不足 → 本课题切入点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02552" y="2395728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02552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!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3317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组卷算法智能化不足（多为随机 / 简单规则）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702552" y="3447288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02552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!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383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组卷与分析相互割裂，未形成闭环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702552" y="4498848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02552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!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44348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分析停留在统计层面，缺少知识点诊断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702552" y="5349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智能组卷 + 多维分析的闭环系统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三、研究内容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2290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" y="1810512"/>
            <a:ext cx="566928" cy="56692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10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87168"/>
            <a:ext cx="2910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题库与知识体系建模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871216"/>
            <a:ext cx="291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多题型；难度、知识点、分值等属性；知识点层级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3024" y="1554480"/>
            <a:ext cx="342290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39056" y="1810512"/>
            <a:ext cx="566928" cy="56692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9056" y="1810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39056" y="2487168"/>
            <a:ext cx="2910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智能组卷算法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9056" y="2871216"/>
            <a:ext cx="291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多约束多目标建模；改进遗传算法；对比实验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5968" y="1554480"/>
            <a:ext cx="342290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2000" y="1810512"/>
            <a:ext cx="566928" cy="56692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810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82000" y="2487168"/>
            <a:ext cx="2910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组卷约束与模板管理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871216"/>
            <a:ext cx="291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教师自定义题型、分值、难度、知识点覆盖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12924" y="3703320"/>
            <a:ext cx="342290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68956" y="3959352"/>
            <a:ext cx="566928" cy="56692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68956" y="3959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768956" y="4636008"/>
            <a:ext cx="2910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试卷分析模块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768956" y="5020056"/>
            <a:ext cx="291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难度、区分度、信度计算；知识点诊断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55868" y="3703320"/>
            <a:ext cx="342290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11900" y="3959352"/>
            <a:ext cx="566928" cy="56692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1900" y="3959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11900" y="4636008"/>
            <a:ext cx="2910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系统设计与实现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11900" y="5020056"/>
            <a:ext cx="291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Spring Boot + Vue 前后端分离；开发与部署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三、研究目标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08792" cy="1051560"/>
          </a:xfrm>
          <a:prstGeom prst="roundRect">
            <a:avLst>
              <a:gd name="adj" fmla="val 6957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32588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建成一个可稳定运行的智能组卷与试卷分析系统，形成“组卷 → 分析”闭环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422904" cy="2377440"/>
          </a:xfrm>
          <a:prstGeom prst="roundRect">
            <a:avLst>
              <a:gd name="adj" fmla="val 3077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063240"/>
            <a:ext cx="2874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C7C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优于基线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914400" y="3840480"/>
            <a:ext cx="731520" cy="7315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114800"/>
            <a:ext cx="2874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 GA 的组卷成功率与试卷质量指标优于随机组卷与标准 GA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3024" y="2743200"/>
            <a:ext cx="3422904" cy="2377440"/>
          </a:xfrm>
          <a:prstGeom prst="roundRect">
            <a:avLst>
              <a:gd name="adj" fmla="val 3077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57344" y="3063240"/>
            <a:ext cx="2874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C7C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全部约束满足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657344" y="3840480"/>
            <a:ext cx="731520" cy="7315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57344" y="4114800"/>
            <a:ext cx="2874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总分、题型、知识点覆盖、难度分布等硬约束全部满足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25968" y="2743200"/>
            <a:ext cx="3422904" cy="2377440"/>
          </a:xfrm>
          <a:prstGeom prst="roundRect">
            <a:avLst>
              <a:gd name="adj" fmla="val 3077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00288" y="3063240"/>
            <a:ext cx="2874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C7C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分析成闭环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00288" y="3840480"/>
            <a:ext cx="731520" cy="7315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0288" y="4114800"/>
            <a:ext cx="2874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输出难度 / 区分度 / 信度指标 + 知识点诊断，反哺教学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四、技术路线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2880360"/>
            <a:ext cx="1874520" cy="1051560"/>
          </a:xfrm>
          <a:prstGeom prst="chevron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96112" y="28803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需求分析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31720" y="2880360"/>
            <a:ext cx="1874520" cy="1051560"/>
          </a:xfrm>
          <a:prstGeom prst="chevron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87752" y="28803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系统设计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23360" y="2880360"/>
            <a:ext cx="1874520" cy="1051560"/>
          </a:xfrm>
          <a:prstGeom prst="chevron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28803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算法设计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15000" y="2880360"/>
            <a:ext cx="1874520" cy="1051560"/>
          </a:xfrm>
          <a:prstGeom prst="chevron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71032" y="28803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编码实现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880360"/>
            <a:ext cx="1874520" cy="1051560"/>
          </a:xfrm>
          <a:prstGeom prst="chevron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62672" y="28803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测试优化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98280" y="2880360"/>
            <a:ext cx="1874520" cy="1051560"/>
          </a:xfrm>
          <a:prstGeom prst="chevron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54312" y="28803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论文撰写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89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推进思路：先建模 → 再算法 → 后工程 → 终验证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由研究内容驱动，逐阶段产出设计文档与代码，保证理论设计与工程实现相互印证。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五、系统总体设计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88920" y="1463040"/>
            <a:ext cx="8759952" cy="868680"/>
          </a:xfrm>
          <a:prstGeom prst="roundRect">
            <a:avLst>
              <a:gd name="adj" fmla="val 8421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108960" y="1463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SPA　·　Element Plus / Pinia / ECharts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32888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接口层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88920" y="2532888"/>
            <a:ext cx="8759952" cy="868680"/>
          </a:xfrm>
          <a:prstGeom prst="roundRect">
            <a:avLst>
              <a:gd name="adj" fmla="val 8421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253288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RESTful API　·　JSON 传输　·　JWT 鉴权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602736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602736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88920" y="3602736"/>
            <a:ext cx="8759952" cy="868680"/>
          </a:xfrm>
          <a:prstGeom prst="roundRect">
            <a:avLst>
              <a:gd name="adj" fmla="val 8421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08960" y="3602736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Controller → Service　·　智能组卷引擎 / 试卷分析引擎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672584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788920" y="4672584"/>
            <a:ext cx="8759952" cy="868680"/>
          </a:xfrm>
          <a:prstGeom prst="roundRect">
            <a:avLst>
              <a:gd name="adj" fmla="val 8421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08960" y="4672584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MyBatis-Plus　·　MySQL 8.0　·　Redis 缓存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前后端分离 · 分层解耦 · 各层职责清晰，便于开发、测试与维护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五、功能模块划分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2290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96112" y="2011680"/>
            <a:ext cx="291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560320"/>
            <a:ext cx="291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 / 角色 / 权限 / 日志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383024" y="1691640"/>
            <a:ext cx="342290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39056" y="2011680"/>
            <a:ext cx="291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题库管理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4639056" y="2560320"/>
            <a:ext cx="291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题目 CRUD / 导入导出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25968" y="1691640"/>
            <a:ext cx="342290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2011680"/>
            <a:ext cx="291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知识点管理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560320"/>
            <a:ext cx="291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知识点树 / 关联维护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3422904" cy="1920240"/>
          </a:xfrm>
          <a:prstGeom prst="roundRect">
            <a:avLst>
              <a:gd name="adj" fmla="val 381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206240"/>
            <a:ext cx="291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智能组卷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754880"/>
            <a:ext cx="291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手工 / 模板 / 智能组卷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194304" y="4178808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3024" y="3886200"/>
            <a:ext cx="342290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9056" y="4206240"/>
            <a:ext cx="291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考试管理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4639056" y="4754880"/>
            <a:ext cx="291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 / 作答 / 评阅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25968" y="3886200"/>
            <a:ext cx="3422904" cy="1920240"/>
          </a:xfrm>
          <a:prstGeom prst="roundRect">
            <a:avLst>
              <a:gd name="adj" fmla="val 381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82000" y="4206240"/>
            <a:ext cx="291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试卷分析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8382000" y="4754880"/>
            <a:ext cx="2910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指标计算 / 知识点诊断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680192" y="4178808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六、关键技术难点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271516" cy="2011680"/>
          </a:xfrm>
          <a:prstGeom prst="roundRect">
            <a:avLst>
              <a:gd name="adj" fmla="val 3636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37360"/>
            <a:ext cx="566928" cy="56692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27632" y="1755648"/>
            <a:ext cx="39913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多约束多目标建模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14600"/>
            <a:ext cx="47228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如何把总分、题型、知识点、难度、时间统一到适应度函数并合理定权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463040"/>
            <a:ext cx="5271516" cy="2011680"/>
          </a:xfrm>
          <a:prstGeom prst="roundRect">
            <a:avLst>
              <a:gd name="adj" fmla="val 3636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51676" y="1737360"/>
            <a:ext cx="566928" cy="56692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1676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264908" y="1755648"/>
            <a:ext cx="39913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遗传算法编码与算子改进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51676" y="2514600"/>
            <a:ext cx="47228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在收敛速度与种群多样性之间平衡，缓解早熟收敛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5271516" cy="2011680"/>
          </a:xfrm>
          <a:prstGeom prst="roundRect">
            <a:avLst>
              <a:gd name="adj" fmla="val 3636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69080"/>
            <a:ext cx="566928" cy="56692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069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27632" y="4087368"/>
            <a:ext cx="39913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难度与知识点标注标定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846320"/>
            <a:ext cx="47228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专家赋值 + 基于历史作答数据（P 值）动态修正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77356" y="3794760"/>
            <a:ext cx="5271516" cy="2011680"/>
          </a:xfrm>
          <a:prstGeom prst="roundRect">
            <a:avLst>
              <a:gd name="adj" fmla="val 3636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51676" y="4069080"/>
            <a:ext cx="566928" cy="56692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1676" y="4069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264908" y="4087368"/>
            <a:ext cx="39913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分析模型与可视化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51676" y="4846320"/>
            <a:ext cx="47228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难度 / 区分度 / 信度 / 效度计算与知识点诊断、图表呈现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核心亮点：智能组卷的改进遗传算法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1E3F60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适应度函数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057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= w1·G难度 + w2·G知识点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　 + w3·G结构 + w4·G时间 − 惩罚项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154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四项加权和 − 违反硬约束的惩罚项，把多目标统一为单一评价指标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285232" cy="2468880"/>
          </a:xfrm>
          <a:prstGeom prst="roundRect">
            <a:avLst>
              <a:gd name="adj" fmla="val 2963"/>
            </a:avLst>
          </a:prstGeom>
          <a:solidFill>
            <a:srgbClr val="1E3F60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5727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算法四点改进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2084832"/>
            <a:ext cx="274320" cy="274320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084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67728" y="204825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按题型分段编码，题量/分值约束天然满足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2487168"/>
            <a:ext cx="274320" cy="274320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67728" y="245059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自适应交叉、变异概率，兼顾收敛与多样性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0" y="2889504"/>
            <a:ext cx="274320" cy="274320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889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967728" y="285292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精英保留，防止最优解退化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3291840"/>
            <a:ext cx="274320" cy="274320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67728" y="325526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锦标赛选择，提高选择压力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114800"/>
            <a:ext cx="10908792" cy="1371600"/>
          </a:xfrm>
          <a:prstGeom prst="roundRect">
            <a:avLst>
              <a:gd name="adj" fmla="val 5333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315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验证方式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7091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相同题库与约束下，对比「随机组卷 / 标准 GA / 改进 GA」，重复运行多次，统计组卷成功率、收敛代数、难度贴近度、知识点覆盖率。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七、进度安排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2521458" cy="3566160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2521458" cy="914400"/>
          </a:xfrm>
          <a:prstGeom prst="roundRect">
            <a:avLst>
              <a:gd name="adj" fmla="val 8000"/>
            </a:avLst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664208"/>
            <a:ext cx="2119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2026.10 – 11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57400"/>
            <a:ext cx="21191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开题与设计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9536" y="2743200"/>
            <a:ext cx="256032" cy="25603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69748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选题、文献调研、开题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59536" y="3566160"/>
            <a:ext cx="256032" cy="25603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3566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52044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需求分析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" y="4389120"/>
            <a:ext cx="256032" cy="25603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" y="43891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434340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系统与数据库设计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35858" y="1600200"/>
            <a:ext cx="2521458" cy="3566160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35858" y="1600200"/>
            <a:ext cx="2521458" cy="914400"/>
          </a:xfrm>
          <a:prstGeom prst="roundRect">
            <a:avLst>
              <a:gd name="adj" fmla="val 8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37026" y="1664208"/>
            <a:ext cx="2119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2026.12 – 2027.01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637026" y="2057400"/>
            <a:ext cx="21191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算法与后端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55314" y="2743200"/>
            <a:ext cx="256032" cy="25603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55314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002786" y="269748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改进遗传算法组卷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5314" y="3566160"/>
            <a:ext cx="256032" cy="25603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55314" y="3566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002786" y="352044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对比实验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5314" y="4389120"/>
            <a:ext cx="256032" cy="25603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55314" y="43891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002786" y="434340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后端核心功能开发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31636" y="1600200"/>
            <a:ext cx="2521458" cy="3566160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31636" y="1600200"/>
            <a:ext cx="2521458" cy="914400"/>
          </a:xfrm>
          <a:prstGeom prst="roundRect">
            <a:avLst>
              <a:gd name="adj" fmla="val 8000"/>
            </a:avLst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32804" y="1664208"/>
            <a:ext cx="2119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2027.02 – 03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32804" y="2057400"/>
            <a:ext cx="21191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前端与测试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51092" y="2743200"/>
            <a:ext cx="256032" cy="25603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51092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798564" y="269748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前端开发与联调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51092" y="3566160"/>
            <a:ext cx="256032" cy="25603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51092" y="3566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798564" y="352044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试卷分析模块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451092" y="4389120"/>
            <a:ext cx="256032" cy="256032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51092" y="43891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798564" y="434340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系统测试与优化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027414" y="1600200"/>
            <a:ext cx="2521458" cy="3566160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027414" y="1600200"/>
            <a:ext cx="2521458" cy="914400"/>
          </a:xfrm>
          <a:prstGeom prst="roundRect">
            <a:avLst>
              <a:gd name="adj" fmla="val 8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28582" y="1664208"/>
            <a:ext cx="2119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2027.04 – 05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9228582" y="2057400"/>
            <a:ext cx="21191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论文与答辩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9246870" y="2743200"/>
            <a:ext cx="256032" cy="25603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24687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594342" y="269748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系统部署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246870" y="3566160"/>
            <a:ext cx="256032" cy="25603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246870" y="3566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9594342" y="352044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毕业论文撰写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46870" y="4389120"/>
            <a:ext cx="256032" cy="25603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46870" y="43891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594342" y="4343400"/>
            <a:ext cx="16984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答辩准备与答辩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八、预期成果与特色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F2F6F9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C8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预期成果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1005840" y="2377440"/>
            <a:ext cx="384048" cy="38404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3317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可稳定运行的智能组卷与试卷分析系统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3200400"/>
            <a:ext cx="384048" cy="38404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154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 GA 与随机 / 标准 GA 的对比实验数据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005840" y="4023360"/>
            <a:ext cx="384048" cy="38404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977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需求、设计、接口、测试等文档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1005840" y="4846320"/>
            <a:ext cx="384048" cy="384048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8006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632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毕业论文与答辩演示文稿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36792" y="137160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02552" y="1691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本课题特色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702552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改进遗传算法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702552" y="28529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多约束多目标的智能组卷，算法有亮点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3520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组卷—分析闭环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702552" y="39044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区别于只做组卷或只做分析的现有系统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702552" y="45720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面向知识点的诊断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702552" y="49560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从分数分析推进到知识掌握诊断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023360"/>
            <a:ext cx="4206240" cy="4206240"/>
          </a:xfrm>
          <a:prstGeom prst="ellipse">
            <a:avLst/>
          </a:prstGeom>
          <a:solidFill>
            <a:srgbClr val="1C7C8C"/>
          </a:solidFill>
          <a:ln w="12700">
            <a:solidFill>
              <a:srgbClr val="1C7C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-1645920"/>
            <a:ext cx="4023360" cy="40233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33172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恳请各位老师批评指正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400" kern="0" dirty="0">
                <a:solidFill>
                  <a:srgbClr val="E8A3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　谢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206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0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答辩人：＿＿＿＿＿＿　　指导教师：＿＿＿＿＿＿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开题答辩：基于 Spring Boot 的智能组卷与试卷分析系统</dc:title>
  <dc:subject>PptxGenJS Presentation</dc:subject>
  <dc:creator>毕业设计</dc:creator>
  <cp:lastModifiedBy>毕业设计</cp:lastModifiedBy>
  <cp:revision>1</cp:revision>
  <dcterms:created xsi:type="dcterms:W3CDTF">2026-10-05T13:52:06Z</dcterms:created>
  <dcterms:modified xsi:type="dcterms:W3CDTF">2026-10-05T13:52:06Z</dcterms:modified>
</cp:coreProperties>
</file>